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0" y="4114800"/>
            <a:ext cx="3200400" cy="3200400"/>
          </a:xfrm>
          <a:prstGeom prst="ellipse">
            <a:avLst/>
          </a:prstGeom>
          <a:solidFill>
            <a:srgbClr val="12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6400" b="1">
                <a:solidFill>
                  <a:srgbClr val="00B4A0"/>
                </a:solidFill>
                <a:latin typeface="Segoe UI Black"/>
              </a:defRPr>
            </a:pPr>
            <a:r>
              <a:t>STYS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Kurumsal Konaklama, Tesis ve Restoran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Operasyon Yönetim Platformu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Rezervasyon, kamp, restoran, ödeme, temizlik ve yetki yönetimini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tek merkezde toplayan bütünleşik dijital çözüm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931920"/>
            <a:ext cx="36576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5A5A6E"/>
                </a:solidFill>
                <a:latin typeface="Segoe UI"/>
              </a:defRPr>
            </a:pPr>
            <a:r>
              <a:t>Nisan 2026  |  Kurumsal Tanıtım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Konaklama ve tesis operasyonları neden zorlaşıyor?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CCCCDD"/>
                </a:solidFill>
                <a:latin typeface="Segoe UI"/>
              </a:defRPr>
            </a:pPr>
            <a:r>
              <a:t>Bir çok kurumda su alanlar birbirinden kopuk yönetiliyor: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6583680" cy="4114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Rezervasyon alma ve senaryo oluşturma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Oda ve yatak yerleştirme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Check-in / check-out operasyonu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Ödeme, ek hizmet ve indirim yönetimi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Temizlik ve oda hazırlık süreçleri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Arızalı oda ve operasyonel değişiklikler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Kamp / toplu konaklama başvuru ve tahsis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Restoran, sipariş ve masa yönetimi</a:t>
            </a:r>
          </a:p>
          <a:p>
            <a:pPr>
              <a:spcAft>
                <a:spcPts val="500"/>
              </a:spcAft>
              <a:defRPr sz="1500">
                <a:solidFill>
                  <a:srgbClr val="FF6B6B"/>
                </a:solidFill>
                <a:latin typeface="Segoe UI"/>
              </a:defRPr>
            </a:pPr>
            <a:r>
              <a:t>    ✖   Bildirim ve anlık operasyonel takip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011680"/>
            <a:ext cx="3840480" cy="4114800"/>
          </a:xfrm>
          <a:prstGeom prst="roundRect">
            <a:avLst/>
          </a:prstGeom>
          <a:solidFill>
            <a:srgbClr val="2D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0"/>
              </a:spcBef>
              <a:spcAft>
                <a:spcPts val="2000"/>
              </a:spcAft>
              <a:defRPr sz="2200" b="1">
                <a:solidFill>
                  <a:srgbClr val="FF8C00"/>
                </a:solidFill>
                <a:latin typeface="Segoe UI"/>
              </a:defRPr>
            </a:pPr>
            <a:r>
              <a:t>   Sonuç</a:t>
            </a:r>
          </a:p>
          <a:p>
            <a:pPr>
              <a:spcAft>
                <a:spcPts val="800"/>
              </a:spcAft>
              <a:defRPr sz="1400">
                <a:solidFill>
                  <a:srgbClr val="FFCC80"/>
                </a:solidFill>
                <a:latin typeface="Segoe UI"/>
              </a:defRPr>
            </a:pPr>
            <a:r>
              <a:t>    ⚠  Hata oranı artar</a:t>
            </a:r>
          </a:p>
          <a:p>
            <a:pPr>
              <a:spcAft>
                <a:spcPts val="800"/>
              </a:spcAft>
              <a:defRPr sz="1400">
                <a:solidFill>
                  <a:srgbClr val="FFCC80"/>
                </a:solidFill>
                <a:latin typeface="Segoe UI"/>
              </a:defRPr>
            </a:pPr>
            <a:r>
              <a:t>    ⚠  Yönetim görünürlüğü düşer</a:t>
            </a:r>
          </a:p>
          <a:p>
            <a:pPr>
              <a:spcAft>
                <a:spcPts val="800"/>
              </a:spcAft>
              <a:defRPr sz="1400">
                <a:solidFill>
                  <a:srgbClr val="FFCC80"/>
                </a:solidFill>
                <a:latin typeface="Segoe UI"/>
              </a:defRPr>
            </a:pPr>
            <a:r>
              <a:t>    ⚠  Personel iş yükü gereksiz yere büyür</a:t>
            </a:r>
          </a:p>
          <a:p>
            <a:pPr>
              <a:spcAft>
                <a:spcPts val="800"/>
              </a:spcAft>
              <a:defRPr sz="1400">
                <a:solidFill>
                  <a:srgbClr val="FFCC80"/>
                </a:solidFill>
                <a:latin typeface="Segoe UI"/>
              </a:defRPr>
            </a:pPr>
            <a:r>
              <a:t>    ⚠  Denetlenebilirlik zayıflar</a:t>
            </a:r>
          </a:p>
          <a:p>
            <a:pPr>
              <a:spcAft>
                <a:spcPts val="800"/>
              </a:spcAft>
              <a:defRPr sz="1400">
                <a:solidFill>
                  <a:srgbClr val="FFCC80"/>
                </a:solidFill>
                <a:latin typeface="Segoe UI"/>
              </a:defRPr>
            </a:pPr>
            <a:r>
              <a:t>    ⚠  Kapasite israf edilir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73152" cy="41148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STYS ne çözer?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Konaklama operasyonundan restoran yönetimine, kamp süreçlerinden finansal takibe kadar tum işleyişi uç uca yönetir.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246888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1945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007ACC"/>
                </a:solidFill>
                <a:latin typeface="Segoe UI"/>
              </a:defRPr>
            </a:pPr>
            <a:r>
              <a:rPr dirty="0"/>
              <a:t>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en-GB" dirty="0"/>
              <a:t>Akıllı</a:t>
            </a:r>
            <a:r>
              <a:rPr dirty="0"/>
              <a:t> </a:t>
            </a:r>
            <a:r>
              <a:rPr dirty="0" err="1"/>
              <a:t>Rezervasyon</a:t>
            </a:r>
            <a:br>
              <a:rPr dirty="0"/>
            </a:br>
            <a:r>
              <a:rPr dirty="0"/>
              <a:t>ve </a:t>
            </a:r>
            <a:r>
              <a:rPr dirty="0" err="1"/>
              <a:t>Senaryo</a:t>
            </a:r>
            <a:r>
              <a:rPr dirty="0"/>
              <a:t> </a:t>
            </a:r>
            <a:r>
              <a:rPr dirty="0" err="1"/>
              <a:t>Motoru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337560" y="228600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468880" cy="457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0096C7"/>
                </a:solidFill>
                <a:latin typeface="Segoe UI"/>
              </a:defRPr>
            </a:pPr>
            <a:r>
              <a:t>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Kişi, Oda ve Yatak</a:t>
            </a:r>
            <a:br/>
            <a:r>
              <a:t>Bazlı Planlama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28600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2286000"/>
            <a:ext cx="2468880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42316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00B4D8"/>
                </a:solidFill>
                <a:latin typeface="Segoe UI"/>
              </a:defRPr>
            </a:pPr>
            <a:r>
              <a:t>🚪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Check-in /</a:t>
            </a:r>
            <a:br/>
            <a:r>
              <a:t>Check-out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28600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32520" y="2286000"/>
            <a:ext cx="246888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242316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💳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Ödeme</a:t>
            </a:r>
            <a:r>
              <a:rPr dirty="0"/>
              <a:t>, Ek Hizmet</a:t>
            </a:r>
            <a:br>
              <a:rPr dirty="0"/>
            </a:br>
            <a:r>
              <a:rPr dirty="0"/>
              <a:t>ve </a:t>
            </a:r>
            <a:r>
              <a:rPr dirty="0" err="1"/>
              <a:t>Indirim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2468880" cy="45720"/>
          </a:xfrm>
          <a:prstGeom prst="rect">
            <a:avLst/>
          </a:prstGeom>
          <a:solidFill>
            <a:srgbClr val="2DC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2DC653"/>
                </a:solidFill>
                <a:latin typeface="Segoe UI"/>
              </a:defRPr>
            </a:pPr>
            <a:r>
              <a:t>🧹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Oda Temizlik ve</a:t>
            </a:r>
            <a:br/>
            <a:r>
              <a:t>Hazırlık Süreçleri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70332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37560" y="3703320"/>
            <a:ext cx="2468880" cy="45720"/>
          </a:xfrm>
          <a:prstGeom prst="rect">
            <a:avLst/>
          </a:prstGeom>
          <a:solidFill>
            <a:srgbClr val="48B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384048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48BF91"/>
                </a:solidFill>
                <a:latin typeface="Segoe UI"/>
              </a:defRPr>
            </a:pPr>
            <a:r>
              <a:t>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Arızalı Oda ve</a:t>
            </a:r>
            <a:br/>
            <a:r>
              <a:t>Oda Değişimi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70332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35040" y="3703320"/>
            <a:ext cx="246888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384048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845EC2"/>
                </a:solidFill>
                <a:latin typeface="Segoe UI"/>
              </a:defRPr>
            </a:pPr>
            <a:r>
              <a:t>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Kamp Yönetimi</a:t>
            </a:r>
            <a:br/>
            <a:r>
              <a:t>(Başvuru-Tahsis-Iade)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370332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32520" y="3703320"/>
            <a:ext cx="2468880" cy="45720"/>
          </a:xfrm>
          <a:prstGeom prst="rect">
            <a:avLst/>
          </a:prstGeom>
          <a:solidFill>
            <a:srgbClr val="E0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384048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E07700"/>
                </a:solidFill>
                <a:latin typeface="Segoe UI"/>
              </a:defRPr>
            </a:pPr>
            <a:r>
              <a:t>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Restoran ve</a:t>
            </a:r>
            <a:br/>
            <a:r>
              <a:t>Sipariş Yönetimi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120640"/>
            <a:ext cx="246888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F39C12"/>
                </a:solidFill>
                <a:latin typeface="Segoe UI"/>
              </a:defRPr>
            </a:pPr>
            <a:r>
              <a:t>📱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Müşteri</a:t>
            </a:r>
            <a:br/>
            <a:r>
              <a:t>Dijital Menü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512064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37560" y="5120640"/>
            <a:ext cx="2468880" cy="457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5257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E74C3C"/>
                </a:solidFill>
                <a:latin typeface="Segoe UI"/>
              </a:defRPr>
            </a:pPr>
            <a:r>
              <a:t>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Bildirim ve</a:t>
            </a:r>
            <a:br/>
            <a:r>
              <a:t>Anlık Uyarılar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512064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5120640"/>
            <a:ext cx="246888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5257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3498DB"/>
                </a:solidFill>
                <a:latin typeface="Segoe UI"/>
              </a:defRPr>
            </a:pPr>
            <a:r>
              <a:t>📊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Dashboard, KPI</a:t>
            </a:r>
            <a:br/>
            <a:r>
              <a:t>ve Raporlama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5120640"/>
            <a:ext cx="2468880" cy="12344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732520" y="5120640"/>
            <a:ext cx="2468880" cy="45720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0" y="5257800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95A5A6"/>
                </a:solidFill>
                <a:latin typeface="Segoe UI"/>
              </a:defRPr>
            </a:pPr>
            <a:r>
              <a:t>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Rol, Yetki ve</a:t>
            </a:r>
            <a:br/>
            <a:r>
              <a:t>Erişim Teşhisi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Hedef Kurum Tipleri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Kimler için uygun?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240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t>🏛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Kamu Misafirhaneleri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t>Farklı sehirlerden gelen personel ve misafirler için planli konaklama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240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🎓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lang="en-GB" dirty="0"/>
              <a:t>Ü</a:t>
            </a:r>
            <a:r>
              <a:rPr dirty="0" err="1"/>
              <a:t>niversite</a:t>
            </a:r>
            <a:r>
              <a:rPr dirty="0"/>
              <a:t> </a:t>
            </a:r>
            <a:r>
              <a:rPr dirty="0" err="1"/>
              <a:t>Konukevleri</a:t>
            </a: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Akademisyen</a:t>
            </a:r>
            <a:r>
              <a:rPr dirty="0"/>
              <a:t>, </a:t>
            </a:r>
            <a:r>
              <a:rPr dirty="0" err="1"/>
              <a:t>arastirmaci</a:t>
            </a:r>
            <a:r>
              <a:rPr dirty="0"/>
              <a:t> ve </a:t>
            </a:r>
            <a:r>
              <a:rPr dirty="0" err="1"/>
              <a:t>davetli</a:t>
            </a:r>
            <a:r>
              <a:rPr dirty="0"/>
              <a:t> </a:t>
            </a:r>
            <a:r>
              <a:rPr dirty="0" err="1"/>
              <a:t>konuklar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yönetim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2240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t>🏖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Sosyal Tesisler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t>Dinlenme merkezleri ve sosyal tesis işletmeleri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1965960"/>
            <a:ext cx="2240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🏢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Kurum</a:t>
            </a:r>
            <a:r>
              <a:rPr dirty="0"/>
              <a:t> </a:t>
            </a:r>
            <a:r>
              <a:rPr dirty="0" err="1"/>
              <a:t>Lojmanlar</a:t>
            </a:r>
            <a:r>
              <a:rPr lang="en-GB" dirty="0"/>
              <a:t>ı</a:t>
            </a: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Gecici</a:t>
            </a:r>
            <a:r>
              <a:rPr dirty="0"/>
              <a:t> </a:t>
            </a:r>
            <a:r>
              <a:rPr dirty="0" err="1"/>
              <a:t>konaklama</a:t>
            </a:r>
            <a:r>
              <a:rPr dirty="0"/>
              <a:t> ve </a:t>
            </a:r>
            <a:r>
              <a:rPr dirty="0" err="1"/>
              <a:t>lojman</a:t>
            </a:r>
            <a:r>
              <a:rPr dirty="0"/>
              <a:t> </a:t>
            </a:r>
            <a:r>
              <a:rPr dirty="0" err="1"/>
              <a:t>yönetimi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50292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40"/>
            <a:ext cx="2240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t>🏨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Butik Oteller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t>Pansiyon ve özel konaklama tesisleri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3977640"/>
            <a:ext cx="2240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🏕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Kamp </a:t>
            </a:r>
            <a:r>
              <a:rPr dirty="0" err="1"/>
              <a:t>Tesisleri</a:t>
            </a: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Toplu</a:t>
            </a:r>
            <a:r>
              <a:rPr dirty="0"/>
              <a:t> </a:t>
            </a:r>
            <a:r>
              <a:rPr dirty="0" err="1"/>
              <a:t>konaklama</a:t>
            </a:r>
            <a:r>
              <a:rPr dirty="0"/>
              <a:t> ve </a:t>
            </a:r>
            <a:r>
              <a:rPr dirty="0" err="1"/>
              <a:t>kamp</a:t>
            </a:r>
            <a:r>
              <a:rPr dirty="0"/>
              <a:t> </a:t>
            </a:r>
            <a:r>
              <a:rPr dirty="0" err="1"/>
              <a:t>organizasyonlar</a:t>
            </a:r>
            <a:r>
              <a:rPr lang="en-GB" dirty="0"/>
              <a:t>ı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08076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977640"/>
            <a:ext cx="2240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🏫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Kampus </a:t>
            </a:r>
            <a:r>
              <a:rPr dirty="0" err="1"/>
              <a:t>Merkezleri</a:t>
            </a:r>
            <a:endParaRPr dirty="0"/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Misafir</a:t>
            </a:r>
            <a:r>
              <a:rPr dirty="0"/>
              <a:t> </a:t>
            </a:r>
            <a:r>
              <a:rPr dirty="0" err="1"/>
              <a:t>kabul</a:t>
            </a:r>
            <a:r>
              <a:rPr dirty="0"/>
              <a:t> ve </a:t>
            </a:r>
            <a:r>
              <a:rPr dirty="0" err="1"/>
              <a:t>konuk</a:t>
            </a:r>
            <a:r>
              <a:rPr dirty="0"/>
              <a:t> </a:t>
            </a:r>
            <a:r>
              <a:rPr dirty="0" err="1"/>
              <a:t>koordinasyonu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886968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3977640"/>
            <a:ext cx="2240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0">
                <a:solidFill>
                  <a:srgbClr val="00B4A0"/>
                </a:solidFill>
                <a:latin typeface="Segoe UI"/>
              </a:defRPr>
            </a:pPr>
            <a:r>
              <a:t>🍽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Restoran Tesisleri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DD"/>
                </a:solidFill>
                <a:latin typeface="Segoe UI"/>
              </a:defRPr>
            </a:pPr>
            <a:r>
              <a:t>Restoran işletmesi bulunan tum tesis tipleri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Kurumlara Sağlanan Katma Değer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5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t>🔗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Tek Sistem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Rezervasyondan operasyona,</a:t>
            </a:r>
            <a:br/>
            <a:r>
              <a:t>restorandan kampa entegre çözüm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73736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2402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📈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Verimli</a:t>
            </a:r>
            <a:r>
              <a:rPr dirty="0"/>
              <a:t> </a:t>
            </a:r>
            <a:r>
              <a:rPr dirty="0" err="1"/>
              <a:t>Kapasite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lang="en-GB" dirty="0"/>
              <a:t>İ</a:t>
            </a:r>
            <a:r>
              <a:rPr dirty="0" err="1"/>
              <a:t>zlenebilir</a:t>
            </a:r>
            <a:r>
              <a:rPr dirty="0"/>
              <a:t> ve optimize</a:t>
            </a:r>
            <a:br>
              <a:rPr dirty="0"/>
            </a:br>
            <a:r>
              <a:rPr dirty="0" err="1"/>
              <a:t>edilebilir</a:t>
            </a:r>
            <a:r>
              <a:rPr dirty="0"/>
              <a:t> </a:t>
            </a:r>
            <a:r>
              <a:rPr dirty="0" err="1"/>
              <a:t>kapasite</a:t>
            </a:r>
            <a:r>
              <a:rPr dirty="0"/>
              <a:t> </a:t>
            </a:r>
            <a:r>
              <a:rPr dirty="0" err="1"/>
              <a:t>kullan</a:t>
            </a:r>
            <a:r>
              <a:rPr lang="en-GB" dirty="0"/>
              <a:t>ı</a:t>
            </a:r>
            <a:r>
              <a:rPr dirty="0"/>
              <a:t>m</a:t>
            </a:r>
            <a:r>
              <a:rPr lang="en-GB" dirty="0"/>
              <a:t>ı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80760" y="173736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73736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22402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⚙️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Minimum 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Yükü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/>
              <a:t>Manuel </a:t>
            </a:r>
            <a:r>
              <a:rPr dirty="0" err="1"/>
              <a:t>takip</a:t>
            </a:r>
            <a:r>
              <a:rPr dirty="0"/>
              <a:t> ve k</a:t>
            </a:r>
            <a:r>
              <a:rPr lang="en-GB" dirty="0"/>
              <a:t>ı</a:t>
            </a:r>
            <a:r>
              <a:rPr dirty="0" err="1"/>
              <a:t>rtasiye</a:t>
            </a:r>
            <a:br>
              <a:rPr dirty="0"/>
            </a:br>
            <a:r>
              <a:rPr dirty="0" err="1"/>
              <a:t>işlemlerinin</a:t>
            </a:r>
            <a:r>
              <a:rPr dirty="0"/>
              <a:t> </a:t>
            </a:r>
            <a:r>
              <a:rPr dirty="0" err="1"/>
              <a:t>ortadan</a:t>
            </a:r>
            <a:r>
              <a:rPr dirty="0"/>
              <a:t> </a:t>
            </a:r>
            <a:r>
              <a:rPr lang="en-GB" dirty="0" err="1"/>
              <a:t>kalkması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869680" y="173736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73736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92024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t>🔍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Denetlenebilirlik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Raporlanabilir ve</a:t>
            </a:r>
            <a:br/>
            <a:r>
              <a:t>izlenebilir süreçler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22402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Finansal</a:t>
            </a:r>
            <a:r>
              <a:rPr dirty="0"/>
              <a:t> </a:t>
            </a:r>
            <a:r>
              <a:rPr dirty="0" err="1"/>
              <a:t>Görünürlük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Gelir</a:t>
            </a:r>
            <a:r>
              <a:rPr dirty="0"/>
              <a:t> </a:t>
            </a:r>
            <a:r>
              <a:rPr dirty="0" err="1"/>
              <a:t>takibi</a:t>
            </a:r>
            <a:r>
              <a:rPr dirty="0"/>
              <a:t> ve</a:t>
            </a:r>
            <a:br>
              <a:rPr dirty="0"/>
            </a:br>
            <a:r>
              <a:rPr dirty="0" err="1"/>
              <a:t>ödeme</a:t>
            </a:r>
            <a:r>
              <a:rPr dirty="0"/>
              <a:t> kırılım </a:t>
            </a:r>
            <a:r>
              <a:rPr dirty="0" err="1"/>
              <a:t>raporlar</a:t>
            </a:r>
            <a:r>
              <a:rPr lang="en-GB" dirty="0"/>
              <a:t>ı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3291840" y="384048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384048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4023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t>🔒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Yetki Kontrolü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Merkezi kapsam ve</a:t>
            </a:r>
            <a:br/>
            <a:r>
              <a:t>erişim yönetimi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840480"/>
            <a:ext cx="2606040" cy="1920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84048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0233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>
                <a:solidFill>
                  <a:srgbClr val="00B4A0"/>
                </a:solidFill>
                <a:latin typeface="Segoe UI"/>
              </a:defRPr>
            </a:pPr>
            <a:r>
              <a:t>🔔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Anlık Bildirim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Operasyonel farkındalık</a:t>
            </a:r>
            <a:br/>
            <a:r>
              <a:t>ve uyarı sistemi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Rezervasyon</a:t>
            </a:r>
            <a:r>
              <a:rPr dirty="0"/>
              <a:t> ve </a:t>
            </a:r>
            <a:r>
              <a:rPr dirty="0" err="1"/>
              <a:t>Senaryo</a:t>
            </a:r>
            <a:r>
              <a:rPr dirty="0"/>
              <a:t> </a:t>
            </a:r>
            <a:r>
              <a:rPr dirty="0" err="1"/>
              <a:t>Motoru</a:t>
            </a:r>
            <a:endParaRPr dirty="0"/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rPr lang="en-GB" dirty="0"/>
              <a:t>Akıllı</a:t>
            </a:r>
            <a:r>
              <a:rPr dirty="0"/>
              <a:t> </a:t>
            </a:r>
            <a:r>
              <a:rPr dirty="0" err="1"/>
              <a:t>Rezervasyon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68580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Müsaitlik</a:t>
            </a:r>
            <a:r>
              <a:rPr dirty="0"/>
              <a:t> </a:t>
            </a:r>
            <a:r>
              <a:rPr dirty="0" err="1"/>
              <a:t>kontrolü</a:t>
            </a:r>
            <a:r>
              <a:rPr dirty="0"/>
              <a:t> ve </a:t>
            </a:r>
            <a:r>
              <a:rPr dirty="0" err="1"/>
              <a:t>oda</a:t>
            </a:r>
            <a:r>
              <a:rPr dirty="0"/>
              <a:t> </a:t>
            </a:r>
            <a:r>
              <a:rPr dirty="0" err="1"/>
              <a:t>kapasite</a:t>
            </a:r>
            <a:r>
              <a:rPr dirty="0"/>
              <a:t> </a:t>
            </a:r>
            <a:r>
              <a:rPr dirty="0" err="1"/>
              <a:t>analizi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Minimum </a:t>
            </a:r>
            <a:r>
              <a:rPr dirty="0" err="1"/>
              <a:t>gece</a:t>
            </a:r>
            <a:r>
              <a:rPr dirty="0"/>
              <a:t> ve stop-sale </a:t>
            </a:r>
            <a:r>
              <a:rPr dirty="0" err="1"/>
              <a:t>kuralları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Segmentli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tek</a:t>
            </a:r>
            <a:r>
              <a:rPr dirty="0"/>
              <a:t> </a:t>
            </a:r>
            <a:r>
              <a:rPr dirty="0" err="1"/>
              <a:t>parca</a:t>
            </a:r>
            <a:r>
              <a:rPr dirty="0"/>
              <a:t> </a:t>
            </a:r>
            <a:r>
              <a:rPr dirty="0" err="1"/>
              <a:t>alternatif</a:t>
            </a:r>
            <a:r>
              <a:rPr dirty="0"/>
              <a:t> </a:t>
            </a:r>
            <a:r>
              <a:rPr dirty="0" err="1"/>
              <a:t>senaryolar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Gereksiz</a:t>
            </a:r>
            <a:r>
              <a:rPr dirty="0"/>
              <a:t> segment </a:t>
            </a:r>
            <a:r>
              <a:rPr dirty="0" err="1"/>
              <a:t>oluşturmama</a:t>
            </a:r>
            <a:r>
              <a:rPr dirty="0"/>
              <a:t> </a:t>
            </a:r>
            <a:r>
              <a:rPr dirty="0" err="1"/>
              <a:t>optimizasyonu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Kişi</a:t>
            </a:r>
            <a:r>
              <a:rPr dirty="0"/>
              <a:t> </a:t>
            </a:r>
            <a:r>
              <a:rPr dirty="0" err="1"/>
              <a:t>sayisi</a:t>
            </a:r>
            <a:r>
              <a:rPr dirty="0"/>
              <a:t> ve </a:t>
            </a:r>
            <a:r>
              <a:rPr dirty="0" err="1"/>
              <a:t>kapasite</a:t>
            </a:r>
            <a:r>
              <a:rPr dirty="0"/>
              <a:t> </a:t>
            </a:r>
            <a:r>
              <a:rPr dirty="0" err="1"/>
              <a:t>uyumluluğu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Paylaşımlı</a:t>
            </a:r>
            <a:r>
              <a:rPr dirty="0"/>
              <a:t> </a:t>
            </a:r>
            <a:r>
              <a:rPr dirty="0" err="1"/>
              <a:t>oda</a:t>
            </a:r>
            <a:r>
              <a:rPr dirty="0"/>
              <a:t> </a:t>
            </a:r>
            <a:r>
              <a:rPr dirty="0" err="1"/>
              <a:t>mant</a:t>
            </a:r>
            <a:r>
              <a:rPr lang="en-GB" dirty="0" err="1"/>
              <a:t>ığı</a:t>
            </a:r>
            <a:r>
              <a:rPr dirty="0"/>
              <a:t> ve </a:t>
            </a:r>
            <a:r>
              <a:rPr dirty="0" err="1"/>
              <a:t>cinsiyet</a:t>
            </a:r>
            <a:r>
              <a:rPr dirty="0"/>
              <a:t> </a:t>
            </a:r>
            <a:r>
              <a:rPr dirty="0" err="1"/>
              <a:t>uyumu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Konaklama</a:t>
            </a:r>
            <a:r>
              <a:rPr dirty="0"/>
              <a:t> tipi ve </a:t>
            </a:r>
            <a:r>
              <a:rPr dirty="0" err="1"/>
              <a:t>misafir</a:t>
            </a:r>
            <a:r>
              <a:rPr dirty="0"/>
              <a:t> tipi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planlama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Konaklama</a:t>
            </a:r>
            <a:r>
              <a:rPr dirty="0"/>
              <a:t> </a:t>
            </a:r>
            <a:r>
              <a:rPr dirty="0" err="1"/>
              <a:t>hakk</a:t>
            </a:r>
            <a:r>
              <a:rPr lang="en-GB" dirty="0"/>
              <a:t>ı</a:t>
            </a:r>
            <a:r>
              <a:rPr dirty="0"/>
              <a:t> / </a:t>
            </a:r>
            <a:r>
              <a:rPr dirty="0" err="1"/>
              <a:t>kontenjan</a:t>
            </a:r>
            <a:r>
              <a:rPr dirty="0"/>
              <a:t> </a:t>
            </a:r>
            <a:r>
              <a:rPr dirty="0" err="1"/>
              <a:t>tüketim</a:t>
            </a:r>
            <a:r>
              <a:rPr dirty="0"/>
              <a:t> </a:t>
            </a:r>
            <a:r>
              <a:rPr dirty="0" err="1"/>
              <a:t>takibi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lang="en-GB" dirty="0"/>
              <a:t>İ</a:t>
            </a:r>
            <a:r>
              <a:rPr dirty="0" err="1"/>
              <a:t>ndirim</a:t>
            </a:r>
            <a:r>
              <a:rPr dirty="0"/>
              <a:t> </a:t>
            </a:r>
            <a:r>
              <a:rPr dirty="0" err="1"/>
              <a:t>kural</a:t>
            </a:r>
            <a:r>
              <a:rPr lang="en-GB" dirty="0"/>
              <a:t>ı</a:t>
            </a:r>
            <a:r>
              <a:rPr dirty="0"/>
              <a:t> </a:t>
            </a:r>
            <a:r>
              <a:rPr dirty="0" err="1"/>
              <a:t>yönetimi</a:t>
            </a:r>
            <a:r>
              <a:rPr dirty="0"/>
              <a:t> (</a:t>
            </a:r>
            <a:r>
              <a:rPr dirty="0" err="1"/>
              <a:t>otomatik</a:t>
            </a:r>
            <a:r>
              <a:rPr dirty="0"/>
              <a:t> ve </a:t>
            </a:r>
            <a:r>
              <a:rPr dirty="0" err="1"/>
              <a:t>manuel</a:t>
            </a:r>
            <a:r>
              <a:rPr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4864" cy="45720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57200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0"/>
              </a:spcBef>
              <a:spcAft>
                <a:spcPts val="1000"/>
              </a:spcAft>
              <a:defRPr sz="36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   💡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1800" b="1">
                <a:solidFill>
                  <a:srgbClr val="00B4A0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Kurum</a:t>
            </a:r>
            <a:r>
              <a:rPr dirty="0"/>
              <a:t> </a:t>
            </a:r>
            <a:r>
              <a:rPr dirty="0" err="1"/>
              <a:t>Faydas</a:t>
            </a:r>
            <a:r>
              <a:rPr lang="en-GB" dirty="0"/>
              <a:t>ı</a:t>
            </a:r>
            <a:endParaRPr dirty="0"/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Resepsiyon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operasyon</a:t>
            </a:r>
            <a:br>
              <a:rPr dirty="0"/>
            </a:br>
            <a:r>
              <a:rPr dirty="0"/>
              <a:t>   </a:t>
            </a:r>
            <a:r>
              <a:rPr dirty="0" err="1"/>
              <a:t>personeli</a:t>
            </a:r>
            <a:r>
              <a:rPr dirty="0"/>
              <a:t> </a:t>
            </a:r>
            <a:r>
              <a:rPr dirty="0" err="1"/>
              <a:t>elde</a:t>
            </a:r>
            <a:r>
              <a:rPr dirty="0"/>
              <a:t> </a:t>
            </a:r>
            <a:r>
              <a:rPr dirty="0" err="1"/>
              <a:t>hesap</a:t>
            </a:r>
            <a:r>
              <a:rPr dirty="0"/>
              <a:t> </a:t>
            </a:r>
            <a:r>
              <a:rPr dirty="0" err="1"/>
              <a:t>yapmak</a:t>
            </a:r>
            <a:br>
              <a:rPr dirty="0"/>
            </a:br>
            <a:r>
              <a:rPr dirty="0"/>
              <a:t>   </a:t>
            </a:r>
            <a:r>
              <a:rPr dirty="0" err="1"/>
              <a:t>zorunda</a:t>
            </a:r>
            <a:r>
              <a:rPr dirty="0"/>
              <a:t> </a:t>
            </a:r>
            <a:r>
              <a:rPr dirty="0" err="1"/>
              <a:t>kalmaz</a:t>
            </a:r>
            <a:r>
              <a:rPr dirty="0"/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DD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uygun</a:t>
            </a:r>
            <a:r>
              <a:rPr dirty="0"/>
              <a:t> </a:t>
            </a:r>
            <a:r>
              <a:rPr dirty="0" err="1"/>
              <a:t>konaklama</a:t>
            </a:r>
            <a:br>
              <a:rPr dirty="0"/>
            </a:br>
            <a:r>
              <a:rPr dirty="0"/>
              <a:t>   </a:t>
            </a:r>
            <a:r>
              <a:rPr dirty="0" err="1"/>
              <a:t>senaryoların</a:t>
            </a:r>
            <a:r>
              <a:rPr lang="en-GB" dirty="0"/>
              <a:t>ı</a:t>
            </a:r>
            <a:r>
              <a:rPr dirty="0"/>
              <a:t> </a:t>
            </a:r>
            <a:r>
              <a:rPr dirty="0" err="1"/>
              <a:t>otomatik</a:t>
            </a:r>
            <a:br>
              <a:rPr dirty="0"/>
            </a:br>
            <a:r>
              <a:rPr dirty="0"/>
              <a:t>   </a:t>
            </a:r>
            <a:r>
              <a:rPr dirty="0" err="1"/>
              <a:t>oluşturur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737360"/>
            <a:ext cx="3657600" cy="54864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Kişi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ve </a:t>
            </a:r>
            <a:r>
              <a:rPr dirty="0" err="1"/>
              <a:t>Yatak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Yerleşim</a:t>
            </a:r>
            <a:endParaRPr dirty="0"/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Konaklayan</a:t>
            </a:r>
            <a:r>
              <a:rPr dirty="0"/>
              <a:t> Plan</a:t>
            </a:r>
            <a:r>
              <a:rPr lang="en-GB" dirty="0"/>
              <a:t>ı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0574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20574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👤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Bireysel Plan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Her konaklayan için ayri</a:t>
            </a:r>
            <a:br/>
            <a:r>
              <a:t>konaklama plani oluşturma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20574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20574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🛏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Yatak Ataması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Paylaşımlı odada yatak</a:t>
            </a:r>
            <a:br/>
            <a:r>
              <a:t>bazlı atama ve takip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20574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20" y="2011680"/>
            <a:ext cx="20574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1783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♂♀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Cinsiyet Uyumu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Paylaşımlı odalarda</a:t>
            </a:r>
            <a:br/>
            <a:r>
              <a:t>cinsiyet uyumluluğu kontrolü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20574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2011680"/>
            <a:ext cx="20574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17830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rPr dirty="0"/>
              <a:t>📋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Durum </a:t>
            </a:r>
            <a:r>
              <a:rPr dirty="0" err="1"/>
              <a:t>Takibi</a:t>
            </a:r>
            <a:endParaRPr dirty="0"/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/>
              <a:t>Gelen / </a:t>
            </a:r>
            <a:r>
              <a:rPr dirty="0" err="1"/>
              <a:t>Bekleyen</a:t>
            </a:r>
            <a:r>
              <a:rPr dirty="0"/>
              <a:t> / </a:t>
            </a:r>
            <a:r>
              <a:rPr dirty="0" err="1"/>
              <a:t>Gelmedi</a:t>
            </a:r>
            <a:br>
              <a:rPr dirty="0"/>
            </a:br>
            <a:r>
              <a:rPr dirty="0"/>
              <a:t>/ </a:t>
            </a:r>
            <a:r>
              <a:rPr dirty="0" err="1"/>
              <a:t>Ayrıldı</a:t>
            </a:r>
            <a:r>
              <a:rPr dirty="0"/>
              <a:t> </a:t>
            </a:r>
            <a:r>
              <a:rPr dirty="0" err="1"/>
              <a:t>durumlar</a:t>
            </a:r>
            <a:r>
              <a:rPr lang="en-GB" dirty="0"/>
              <a:t>ı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555480" y="2011680"/>
            <a:ext cx="2057400" cy="29260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2011680"/>
            <a:ext cx="205740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194560"/>
            <a:ext cx="17830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rPr dirty="0"/>
              <a:t>💳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Hizmet Ba</a:t>
            </a:r>
            <a:r>
              <a:rPr lang="en-GB" dirty="0"/>
              <a:t>ğ</a:t>
            </a:r>
            <a:r>
              <a:rPr dirty="0"/>
              <a:t>lama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Konaklayan</a:t>
            </a:r>
            <a:r>
              <a:rPr dirty="0"/>
              <a:t> </a:t>
            </a:r>
            <a:r>
              <a:rPr dirty="0" err="1"/>
              <a:t>baz</a:t>
            </a:r>
            <a:r>
              <a:rPr lang="en-GB" dirty="0"/>
              <a:t>ı</a:t>
            </a:r>
            <a:r>
              <a:rPr dirty="0" err="1"/>
              <a:t>nda</a:t>
            </a:r>
            <a:r>
              <a:rPr dirty="0"/>
              <a:t> ek </a:t>
            </a:r>
            <a:r>
              <a:rPr dirty="0" err="1"/>
              <a:t>hizmet</a:t>
            </a:r>
            <a:br>
              <a:rPr dirty="0"/>
            </a:br>
            <a:r>
              <a:rPr dirty="0"/>
              <a:t>ve </a:t>
            </a:r>
            <a:r>
              <a:rPr dirty="0" err="1"/>
              <a:t>ödeme</a:t>
            </a:r>
            <a:r>
              <a:rPr dirty="0"/>
              <a:t> </a:t>
            </a:r>
            <a:r>
              <a:rPr dirty="0" err="1"/>
              <a:t>ilişkilendirme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B4A0"/>
                </a:solidFill>
                <a:latin typeface="Segoe UI"/>
              </a:defRPr>
            </a:pPr>
            <a:r>
              <a:t>💡  Gerçek hayattaki konaklama plani sistemde net olarak görülür; kim nerede, ne zaman kalacak sorusu anında cevaplanır.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Kontrollü Giriş ve Çıkış Operasyonu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Check-in / Check-out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🚫  Plansız check-in engeli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Plan olmadan check-in yapilamaz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20574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⚠️  Oda hazırlık kontrolü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Hazır olmayan oda için uyarı veya engel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92024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0574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💳  Ödeme kontrolü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Eksik ödeme varsa check-out engeli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6616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👤  Fiili operasyon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Gelen misafirler üzerinden yönetim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56616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⏰  Tesis bazlı saatler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Her tesis için farklı giriş/çıkış saati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566160"/>
            <a:ext cx="3474720" cy="14630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370332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📅  Otomatik gun hesabı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Tesis kuralina göre otomatik hesaplama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Gelir, Ödeme ve Hizmet Takibi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Ödeme ve Ek Hizmetler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9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943600" cy="420624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Parçalı</a:t>
            </a:r>
            <a:r>
              <a:rPr dirty="0"/>
              <a:t> </a:t>
            </a:r>
            <a:r>
              <a:rPr dirty="0" err="1"/>
              <a:t>ödeme</a:t>
            </a:r>
            <a:r>
              <a:rPr dirty="0"/>
              <a:t> (</a:t>
            </a:r>
            <a:r>
              <a:rPr dirty="0" err="1"/>
              <a:t>kademeli</a:t>
            </a:r>
            <a:r>
              <a:rPr dirty="0"/>
              <a:t> </a:t>
            </a:r>
            <a:r>
              <a:rPr dirty="0" err="1"/>
              <a:t>tahsilat</a:t>
            </a:r>
            <a:r>
              <a:rPr dirty="0"/>
              <a:t>)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Nakit </a:t>
            </a:r>
            <a:r>
              <a:rPr dirty="0" err="1"/>
              <a:t>veya</a:t>
            </a:r>
            <a:r>
              <a:rPr dirty="0"/>
              <a:t> kart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ödeme</a:t>
            </a: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Ek </a:t>
            </a:r>
            <a:r>
              <a:rPr dirty="0" err="1"/>
              <a:t>hizmet</a:t>
            </a:r>
            <a:r>
              <a:rPr dirty="0"/>
              <a:t> </a:t>
            </a:r>
            <a:r>
              <a:rPr dirty="0" err="1"/>
              <a:t>satisi</a:t>
            </a:r>
            <a:r>
              <a:rPr dirty="0"/>
              <a:t> ve </a:t>
            </a:r>
            <a:r>
              <a:rPr dirty="0" err="1"/>
              <a:t>kişi</a:t>
            </a:r>
            <a:r>
              <a:rPr dirty="0"/>
              <a:t>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hizmet</a:t>
            </a:r>
            <a:r>
              <a:rPr dirty="0"/>
              <a:t> </a:t>
            </a:r>
            <a:r>
              <a:rPr dirty="0" err="1"/>
              <a:t>yazma</a:t>
            </a: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Varsayılan</a:t>
            </a:r>
            <a:r>
              <a:rPr dirty="0"/>
              <a:t> </a:t>
            </a:r>
            <a:r>
              <a:rPr dirty="0" err="1"/>
              <a:t>fiyat</a:t>
            </a:r>
            <a:r>
              <a:rPr dirty="0"/>
              <a:t> + </a:t>
            </a:r>
            <a:r>
              <a:rPr dirty="0" err="1"/>
              <a:t>serbest</a:t>
            </a:r>
            <a:r>
              <a:rPr dirty="0"/>
              <a:t> </a:t>
            </a:r>
            <a:r>
              <a:rPr dirty="0" err="1"/>
              <a:t>fiyat</a:t>
            </a:r>
            <a:r>
              <a:rPr dirty="0"/>
              <a:t> override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lang="en-GB" dirty="0"/>
              <a:t>İ</a:t>
            </a:r>
            <a:r>
              <a:rPr dirty="0" err="1"/>
              <a:t>ndirim</a:t>
            </a:r>
            <a:r>
              <a:rPr dirty="0"/>
              <a:t> </a:t>
            </a:r>
            <a:r>
              <a:rPr dirty="0" err="1"/>
              <a:t>kural</a:t>
            </a:r>
            <a:r>
              <a:rPr lang="en-GB" dirty="0"/>
              <a:t>ı</a:t>
            </a:r>
            <a:r>
              <a:rPr dirty="0"/>
              <a:t> </a:t>
            </a:r>
            <a:r>
              <a:rPr dirty="0" err="1"/>
              <a:t>yönetimi</a:t>
            </a:r>
            <a:endParaRPr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✓   </a:t>
            </a:r>
            <a:r>
              <a:rPr dirty="0" err="1"/>
              <a:t>Konaklama</a:t>
            </a:r>
            <a:r>
              <a:rPr dirty="0"/>
              <a:t> </a:t>
            </a:r>
            <a:r>
              <a:rPr dirty="0" err="1"/>
              <a:t>hakk</a:t>
            </a:r>
            <a:r>
              <a:rPr lang="en-GB" dirty="0"/>
              <a:t>ı</a:t>
            </a:r>
            <a:r>
              <a:rPr dirty="0"/>
              <a:t> </a:t>
            </a:r>
            <a:r>
              <a:rPr dirty="0" err="1"/>
              <a:t>tüketim</a:t>
            </a:r>
            <a:r>
              <a:rPr dirty="0"/>
              <a:t> </a:t>
            </a:r>
            <a:r>
              <a:rPr dirty="0" err="1"/>
              <a:t>kırılımı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4864" cy="420624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0880" y="1737360"/>
            <a:ext cx="4572000" cy="4206240"/>
          </a:xfrm>
          <a:prstGeom prst="roundRect">
            <a:avLst/>
          </a:prstGeom>
          <a:solidFill>
            <a:srgbClr val="1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0"/>
              </a:spcBef>
              <a:spcAft>
                <a:spcPts val="1400"/>
              </a:spcAft>
              <a:defRPr sz="1700" b="1">
                <a:solidFill>
                  <a:srgbClr val="FF8C00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Ornek</a:t>
            </a:r>
            <a:r>
              <a:rPr dirty="0"/>
              <a:t> Ek </a:t>
            </a:r>
            <a:r>
              <a:rPr dirty="0" err="1"/>
              <a:t>Hizmetler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👟  </a:t>
            </a:r>
            <a:r>
              <a:rPr dirty="0" err="1"/>
              <a:t>Ayakkab</a:t>
            </a:r>
            <a:r>
              <a:rPr lang="en-GB" dirty="0"/>
              <a:t>ı</a:t>
            </a:r>
            <a:r>
              <a:rPr dirty="0"/>
              <a:t> </a:t>
            </a:r>
            <a:r>
              <a:rPr dirty="0" err="1"/>
              <a:t>boyama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👕  </a:t>
            </a:r>
            <a:r>
              <a:rPr dirty="0" err="1"/>
              <a:t>Kurutemizleme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☕  </a:t>
            </a:r>
            <a:r>
              <a:rPr dirty="0" err="1"/>
              <a:t>Odaya</a:t>
            </a:r>
            <a:r>
              <a:rPr dirty="0"/>
              <a:t> </a:t>
            </a:r>
            <a:r>
              <a:rPr dirty="0" err="1"/>
              <a:t>kahvalt</a:t>
            </a:r>
            <a:r>
              <a:rPr lang="en-GB" dirty="0"/>
              <a:t>ı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🚘  Transfer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⏰  </a:t>
            </a:r>
            <a:r>
              <a:rPr dirty="0" err="1"/>
              <a:t>Geç</a:t>
            </a:r>
            <a:r>
              <a:rPr dirty="0"/>
              <a:t> check-out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✨  Özel </a:t>
            </a:r>
            <a:r>
              <a:rPr dirty="0" err="1"/>
              <a:t>istekler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7040880" y="1737360"/>
            <a:ext cx="45720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Housekeeping ve Oda Hazırlık Süreci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Oda Temizlik ve Hazırlık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19456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19456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🚪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Check-out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Otomatik kirli</a:t>
            </a:r>
            <a:br/>
            <a:r>
              <a:t>durum tanımlama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00B4A0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219456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2560320"/>
            <a:ext cx="219456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🧹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Temizlik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Görevliye iş dusmesi</a:t>
            </a:r>
            <a:br/>
            <a:r>
              <a:t>Temizleniyor durumu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00B4A0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560320"/>
            <a:ext cx="219456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2560320"/>
            <a:ext cx="219456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✅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Hazır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Hazır durumuna</a:t>
            </a:r>
            <a:br/>
            <a:r>
              <a:t>geçiş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00B4A0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560320"/>
            <a:ext cx="2194560" cy="2286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0" y="2560320"/>
            <a:ext cx="219456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2697480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🚪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Check-in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Hazırlık kontrolü</a:t>
            </a:r>
            <a:br/>
            <a:r>
              <a:t>sonrası giriş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Operasyonel Kesintilere Hazır Yapi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Arızalı Oda ve Oda Değişimi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11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205740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20574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7830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FF8C00"/>
                </a:solidFill>
                <a:latin typeface="Segoe UI"/>
              </a:defRPr>
            </a:pPr>
            <a:r>
              <a:rPr dirty="0"/>
              <a:t>🔧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Arıza</a:t>
            </a:r>
            <a:r>
              <a:rPr dirty="0"/>
              <a:t> Kayd</a:t>
            </a:r>
            <a:r>
              <a:rPr lang="en-GB" dirty="0"/>
              <a:t>ı</a:t>
            </a:r>
            <a:endParaRPr dirty="0"/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Arızalı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</a:t>
            </a:r>
            <a:r>
              <a:rPr dirty="0" err="1"/>
              <a:t>kullanima</a:t>
            </a:r>
            <a:r>
              <a:rPr dirty="0"/>
              <a:t> </a:t>
            </a:r>
            <a:r>
              <a:rPr dirty="0" err="1"/>
              <a:t>kapalı</a:t>
            </a:r>
            <a:br>
              <a:rPr dirty="0"/>
            </a:br>
            <a:r>
              <a:rPr dirty="0" err="1"/>
              <a:t>oda</a:t>
            </a:r>
            <a:r>
              <a:rPr dirty="0"/>
              <a:t> </a:t>
            </a:r>
            <a:r>
              <a:rPr dirty="0" err="1"/>
              <a:t>kaydi</a:t>
            </a:r>
            <a:r>
              <a:rPr dirty="0"/>
              <a:t> </a:t>
            </a:r>
            <a:r>
              <a:rPr dirty="0" err="1"/>
              <a:t>oluşturma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205740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20574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FF8C00"/>
                </a:solidFill>
                <a:latin typeface="Segoe UI"/>
              </a:defRPr>
            </a:pPr>
            <a:r>
              <a:t>🔍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Etki Tespiti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Etkilenen rezervasyonlari</a:t>
            </a:r>
            <a:br/>
            <a:r>
              <a:t>otomatik tespit etme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11680"/>
            <a:ext cx="205740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20" y="2011680"/>
            <a:ext cx="20574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19456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FF8C00"/>
                </a:solidFill>
                <a:latin typeface="Segoe UI"/>
              </a:defRPr>
            </a:pPr>
            <a:r>
              <a:t>💡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Alternatif Öneri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Uygun alternatif oda</a:t>
            </a:r>
            <a:br/>
            <a:r>
              <a:t>önerisi ve atama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011680"/>
            <a:ext cx="205740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2011680"/>
            <a:ext cx="20574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FF8C00"/>
                </a:solidFill>
                <a:latin typeface="Segoe UI"/>
              </a:defRPr>
            </a:pPr>
            <a:r>
              <a:t>🔄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Oda Değişimi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Check-in öncesi ve sonrası</a:t>
            </a:r>
            <a:br/>
            <a:r>
              <a:t>oda değişimi desteği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011680"/>
            <a:ext cx="205740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2011680"/>
            <a:ext cx="205740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194560"/>
            <a:ext cx="1783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FF8C00"/>
                </a:solidFill>
                <a:latin typeface="Segoe UI"/>
              </a:defRPr>
            </a:pPr>
            <a:r>
              <a:t>💰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Fiyat Koruma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Fiyat artıyorsa koruma,</a:t>
            </a:r>
            <a:br/>
            <a:r>
              <a:t>düşüyorsa indirim uygulama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Toplu Konaklama ve Kamp Süreç Yönetimi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Kamp Yönetimi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12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📅  Program ve Dönem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Kamp programları, dönemler</a:t>
            </a:r>
            <a:br/>
            <a:r>
              <a:t>ve tesis atamaları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📝  Online Başvuru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Katılımcı bilgileri, konaklama</a:t>
            </a:r>
            <a:br/>
            <a:r>
              <a:t>birimi seçimi, ücret önizleme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🎯  Puan Bazlı Tahsis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Kıdem, geçmiş katılım gibi</a:t>
            </a:r>
            <a:br/>
            <a:r>
              <a:t>kriterlere göre sıralama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🔄  Otomatik Rezervasyon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Tahsisten otomatik konaklama</a:t>
            </a:r>
            <a:br/>
            <a:r>
              <a:t>rezervasyonu + oda ataması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💰  Ücret ve Tarife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Kamu/diger tarife, çocuk</a:t>
            </a:r>
            <a:br/>
            <a:r>
              <a:t>yas kuralları, birim ücret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💸  Iade ve Iptal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Vazgeçme süresi, kesinti</a:t>
            </a:r>
            <a:br/>
            <a:r>
              <a:t>hesabı, mazeret değerlendirme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❌  No-Show Yönetimi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Katılmayanların</a:t>
            </a:r>
            <a:br/>
            <a:r>
              <a:t>otomatik iptali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69680" y="36576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👤  Başvurularım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Self-servis başvuru</a:t>
            </a:r>
            <a:br/>
            <a:r>
              <a:t>takip ekranı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845EC2"/>
                </a:solidFill>
                <a:latin typeface="Segoe UI"/>
              </a:defRPr>
            </a:pPr>
            <a:r>
              <a:t>💡  Yüzlerce başvuruyu adil puanlama ile değerlendirip, tahsis, rezervasyon ve ücretlendirme süreçlerini tek tuşluk işlemlerle tamamlar.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Tesis Içi Restoran, Sipariş ve Ödeme Yönetimi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Restoran Yönetimi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13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🍽  Restoran Tanımlama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Çoklu restoran, tesis ve</a:t>
            </a:r>
            <a:br/>
            <a:r>
              <a:t>işletme alani ilişkisi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💺  Masa Yönetimi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Durum takibi:</a:t>
            </a:r>
            <a:br/>
            <a:r>
              <a:t>Müsait / Rezerve / Kapalı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📜  Menü Yönetimi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Kategori bazlı ürün, fiyat</a:t>
            </a:r>
            <a:br/>
            <a:r>
              <a:t>ve hazırlama süresi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🗂  Kategori Havuzu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Merkezi kategori şablonu</a:t>
            </a:r>
            <a:br/>
            <a:r>
              <a:t>ve restoran ataması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📦  Sipariş Yönetimi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Kalem bazlı durum:</a:t>
            </a:r>
            <a:br/>
            <a:r>
              <a:t>Beklemede &gt; Hazır &gt; Servis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👋  Garson Servisi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Dokunmatik uyumlu</a:t>
            </a:r>
            <a:br/>
            <a:r>
              <a:t>hızlı operasyon ekranı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💳  Restoran Ödeme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Nakit/kart, sipariş bazlı</a:t>
            </a:r>
            <a:br/>
            <a:r>
              <a:t>ödeme özeti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69680" y="365760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📱  Dijital Menü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QR ile açılan, mobil uyumlu</a:t>
            </a:r>
            <a:br/>
            <a:r>
              <a:t>müşteri menü ekranı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8C00"/>
                </a:solidFill>
                <a:latin typeface="Segoe UI"/>
              </a:defRPr>
            </a:pPr>
            <a:r>
              <a:t>💡  Garsondan yöneticiye, mutfaktan kasaya tek sistem. Konaklama ile aynı platformda bütünleşik restoran yönetimi.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Anlık Bildirim ve Operasyonel Uyarı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Bildirim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14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0604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606040" cy="457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defRPr sz="3600" b="0">
                <a:solidFill>
                  <a:srgbClr val="E74C3C"/>
                </a:solidFill>
                <a:latin typeface="Segoe UI"/>
              </a:defRPr>
            </a:pPr>
            <a:r>
              <a:t>⚡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SignalR Altyapisi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DD"/>
                </a:solidFill>
                <a:latin typeface="Segoe UI"/>
              </a:defRPr>
            </a:pPr>
            <a:r>
              <a:t>Gerçek zamanli, sunucu tabanlı</a:t>
            </a:r>
            <a:br/>
            <a:r>
              <a:t>anlık bildirim gonderimi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11680"/>
            <a:ext cx="260604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2011680"/>
            <a:ext cx="2606040" cy="457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defRPr sz="3600" b="0">
                <a:solidFill>
                  <a:srgbClr val="E74C3C"/>
                </a:solidFill>
                <a:latin typeface="Segoe UI"/>
              </a:defRPr>
            </a:pPr>
            <a:r>
              <a:t>🔔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Operasyonel Uyarı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DD"/>
                </a:solidFill>
                <a:latin typeface="Segoe UI"/>
              </a:defRPr>
            </a:pPr>
            <a:r>
              <a:t>Kritik olaylarda kullaniciya</a:t>
            </a:r>
            <a:br/>
            <a:r>
              <a:t>anında haber verme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011680"/>
            <a:ext cx="260604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2011680"/>
            <a:ext cx="2606040" cy="457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defRPr sz="3600" b="0">
                <a:solidFill>
                  <a:srgbClr val="E74C3C"/>
                </a:solidFill>
                <a:latin typeface="Segoe UI"/>
              </a:defRPr>
            </a:pPr>
            <a:r>
              <a:t>🟢🟡🔴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Seviye Bazlı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DD"/>
                </a:solidFill>
                <a:latin typeface="Segoe UI"/>
              </a:defRPr>
            </a:pPr>
            <a:r>
              <a:t>Bilgi, uyarı ve kritik</a:t>
            </a:r>
            <a:br/>
            <a:r>
              <a:t>seviye ayrimi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011680"/>
            <a:ext cx="2606040" cy="27432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2011680"/>
            <a:ext cx="2606040" cy="4572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228600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  <a:defRPr sz="3600" b="0">
                <a:solidFill>
                  <a:srgbClr val="E74C3C"/>
                </a:solidFill>
                <a:latin typeface="Segoe UI"/>
              </a:defRPr>
            </a:pPr>
            <a:r>
              <a:t>👤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Kişi Bazlı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DD"/>
                </a:solidFill>
                <a:latin typeface="Segoe UI"/>
              </a:defRPr>
            </a:pPr>
            <a:r>
              <a:t>Kullanici hedefli</a:t>
            </a:r>
            <a:br/>
            <a:r>
              <a:t>bildirim gonderimi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Admin ve Destek Ekipleri Için Hızlı Teşhis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Yetki ve Erişim Teşhisi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15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858000" cy="34747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</a:pPr>
            <a:endParaRPr dirty="0"/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❓   </a:t>
            </a:r>
            <a:r>
              <a:rPr dirty="0" err="1"/>
              <a:t>Kullanici</a:t>
            </a:r>
            <a:r>
              <a:rPr dirty="0"/>
              <a:t> </a:t>
            </a: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menüyü</a:t>
            </a:r>
            <a:r>
              <a:rPr dirty="0"/>
              <a:t> </a:t>
            </a:r>
            <a:r>
              <a:rPr dirty="0" err="1"/>
              <a:t>göremez</a:t>
            </a:r>
            <a:r>
              <a:rPr dirty="0"/>
              <a:t>?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❓   </a:t>
            </a: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listeleyemez</a:t>
            </a:r>
            <a:r>
              <a:rPr dirty="0"/>
              <a:t> </a:t>
            </a:r>
            <a:r>
              <a:rPr dirty="0" err="1"/>
              <a:t>veya</a:t>
            </a:r>
            <a:r>
              <a:rPr dirty="0"/>
              <a:t> yeni kay</a:t>
            </a:r>
            <a:r>
              <a:rPr lang="en-GB" dirty="0"/>
              <a:t>ı</a:t>
            </a:r>
            <a:r>
              <a:rPr dirty="0"/>
              <a:t>t </a:t>
            </a:r>
            <a:r>
              <a:rPr dirty="0" err="1"/>
              <a:t>ekleyemez</a:t>
            </a:r>
            <a:r>
              <a:rPr dirty="0"/>
              <a:t>?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❓   </a:t>
            </a:r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sadece</a:t>
            </a:r>
            <a:r>
              <a:rPr dirty="0"/>
              <a:t> </a:t>
            </a:r>
            <a:r>
              <a:rPr dirty="0" err="1"/>
              <a:t>belirli</a:t>
            </a:r>
            <a:r>
              <a:rPr dirty="0"/>
              <a:t> </a:t>
            </a:r>
            <a:r>
              <a:rPr dirty="0" err="1"/>
              <a:t>tesiste</a:t>
            </a:r>
            <a:r>
              <a:rPr dirty="0"/>
              <a:t> </a:t>
            </a:r>
            <a:r>
              <a:rPr dirty="0" err="1"/>
              <a:t>engellenir</a:t>
            </a:r>
            <a:r>
              <a:rPr dirty="0"/>
              <a:t>?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rPr dirty="0"/>
              <a:t>     ❓   Mod</a:t>
            </a:r>
            <a:r>
              <a:rPr lang="en-GB" dirty="0"/>
              <a:t>ü</a:t>
            </a:r>
            <a:r>
              <a:rPr dirty="0"/>
              <a:t>l </a:t>
            </a:r>
            <a:r>
              <a:rPr dirty="0" err="1"/>
              <a:t>bazlı</a:t>
            </a:r>
            <a:r>
              <a:rPr dirty="0"/>
              <a:t> </a:t>
            </a:r>
            <a:r>
              <a:rPr dirty="0" err="1"/>
              <a:t>yetki</a:t>
            </a:r>
            <a:r>
              <a:rPr dirty="0"/>
              <a:t> </a:t>
            </a:r>
            <a:r>
              <a:rPr dirty="0" err="1"/>
              <a:t>analiz</a:t>
            </a:r>
            <a:r>
              <a:rPr dirty="0"/>
              <a:t> </a:t>
            </a:r>
            <a:r>
              <a:rPr dirty="0" err="1"/>
              <a:t>ekranı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3474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657600" cy="3474720"/>
          </a:xfrm>
          <a:prstGeom prst="roundRect">
            <a:avLst/>
          </a:prstGeom>
          <a:solidFill>
            <a:srgbClr val="0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Bef>
                <a:spcPts val="0"/>
              </a:spcBef>
              <a:spcAft>
                <a:spcPts val="1200"/>
              </a:spcAft>
              <a:defRPr sz="3600" b="0">
                <a:solidFill>
                  <a:srgbClr val="FFFFFF"/>
                </a:solidFill>
                <a:latin typeface="Segoe UI"/>
              </a:defRPr>
            </a:pPr>
            <a:r>
              <a:t>   ✅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800" b="1">
                <a:solidFill>
                  <a:srgbClr val="27AE60"/>
                </a:solidFill>
                <a:latin typeface="Segoe UI"/>
              </a:defRPr>
            </a:pPr>
            <a:r>
              <a:t>   Kurum Faydasi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 Destek süresi kısalır.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 Rol/scope problemleri</a:t>
            </a:r>
            <a:br/>
            <a:r>
              <a:t>   hızla çözülür.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DD"/>
                </a:solidFill>
                <a:latin typeface="Segoe UI"/>
              </a:defRPr>
            </a:pPr>
            <a:r>
              <a:t>   IT ekibinin üzerindeki</a:t>
            </a:r>
            <a:br/>
            <a:r>
              <a:t>   destek yükü azalir.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2880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Çok Katmanli Yetkilendirme Yapisi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Yetki Mimarisi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16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5740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057400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7ACC"/>
                </a:solidFill>
                <a:latin typeface="Segoe UI"/>
              </a:defRPr>
            </a:pPr>
            <a:r>
              <a:t>👥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Rol Bazlı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Admin, Tesis Yönetici,</a:t>
            </a:r>
            <a:br/>
            <a:r>
              <a:t>Bina Yönetici, Resepsiyonist,</a:t>
            </a:r>
            <a:br/>
            <a:r>
              <a:t>Restoran Yönetici, Garson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205740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1828800"/>
            <a:ext cx="2057400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96C7"/>
                </a:solidFill>
                <a:latin typeface="Segoe UI"/>
              </a:defRPr>
            </a:pPr>
            <a:r>
              <a:t>🏢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Kapsam Bazlı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Tesis, bina, restoran</a:t>
            </a:r>
            <a:br/>
            <a:r>
              <a:t>seviyesinde erişim</a:t>
            </a:r>
            <a:br/>
            <a:r>
              <a:t>sınırlaması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28800"/>
            <a:ext cx="205740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20" y="1828800"/>
            <a:ext cx="2057400" cy="54864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t>🏷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Marker Roller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Atanabilir / Atayabilir</a:t>
            </a:r>
            <a:br/>
            <a:r>
              <a:t>yetki ayrimi</a:t>
            </a:r>
            <a:br/>
            <a:r>
              <a:t>(ornegin: yönetici atayabilir mi?)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205740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1828800"/>
            <a:ext cx="2057400" cy="54864"/>
          </a:xfrm>
          <a:prstGeom prst="rect">
            <a:avLst/>
          </a:prstGeom>
          <a:solidFill>
            <a:srgbClr val="48B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01168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48BF91"/>
                </a:solidFill>
                <a:latin typeface="Segoe UI"/>
              </a:defRPr>
            </a:pPr>
            <a:r>
              <a:t>📋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Menü Görünürlüğü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Yetkiye göre</a:t>
            </a:r>
            <a:br/>
            <a:r>
              <a:t>dinamik menü agaci</a:t>
            </a:r>
            <a:br/>
            <a:r>
              <a:t>oluşturma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828800"/>
            <a:ext cx="205740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1828800"/>
            <a:ext cx="2057400" cy="54864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011680"/>
            <a:ext cx="1783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845EC2"/>
                </a:solidFill>
                <a:latin typeface="Segoe UI"/>
              </a:defRPr>
            </a:pPr>
            <a:r>
              <a:t>👫</a:t>
            </a:r>
          </a:p>
          <a:p>
            <a:pPr algn="ctr">
              <a:spcBef>
                <a:spcPts val="0"/>
              </a:spcBef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Kullanici Grupları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Grup bazlı toplu</a:t>
            </a:r>
            <a:br/>
            <a:r>
              <a:t>yetki ataması</a:t>
            </a:r>
            <a:br/>
            <a:r>
              <a:t>ve yönetimi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B4A0"/>
                </a:solidFill>
                <a:latin typeface="Segoe UI"/>
              </a:defRPr>
            </a:pPr>
            <a:r>
              <a:t>💡  Her kullanici sadece kendi isini görebilir ve yapabilir. Farklı görev seviyelerine göre hassas erişim kontrolü.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Anlık Operasyonel Görünüm ve KPI Takibi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Dashboard ve Raporlama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17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🚪  Check-in/out Takibi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Bugun giriş ve çıkış</a:t>
            </a:r>
            <a:br/>
            <a:r>
              <a:t>yapacak misafirler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🏨  Kapasite Gösterimi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Dolu / bos kapasite</a:t>
            </a:r>
            <a:br/>
            <a:r>
              <a:t>anlık görünüm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2880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82880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📈  KPI Trendleri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Dönemsel karşılaştırma</a:t>
            </a:r>
            <a:br/>
            <a:r>
              <a:t>ve trend grafikleri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356616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💰  Gelir Kırılımı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Baz ücret, indirim ve</a:t>
            </a:r>
            <a:br/>
            <a:r>
              <a:t>ödeme detay raporlari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56616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356616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70332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🏢  Çoklu Tesis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Tesis bazlı</a:t>
            </a:r>
            <a:br/>
            <a:r>
              <a:t>karşılaştırmalı raporlama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566160"/>
            <a:ext cx="3474720" cy="15544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566160"/>
            <a:ext cx="347472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370332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📄  Export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Excel ve PDF</a:t>
            </a:r>
            <a:br/>
            <a:r>
              <a:t>çıktı desteği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Kurumsal Teknik Güvence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Teknik Altyapi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18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06040" cy="4572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7ACC"/>
                </a:solidFill>
                <a:latin typeface="Segoe UI"/>
              </a:defRPr>
            </a:pPr>
            <a:r>
              <a:t>⚙️  Backend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ASP.NET Core (.NET 10)</a:t>
            </a:r>
            <a:br/>
            <a:r>
              <a:t>Entity Framework Core</a:t>
            </a:r>
            <a:br/>
            <a:r>
              <a:t>SQL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606040" cy="45720"/>
          </a:xfrm>
          <a:prstGeom prst="rect">
            <a:avLst/>
          </a:prstGeom>
          <a:solidFill>
            <a:srgbClr val="DD0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DD0031"/>
                </a:solidFill>
                <a:latin typeface="Segoe UI"/>
              </a:defRPr>
            </a:pPr>
            <a:r>
              <a:t>🖥  Frontend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Angular</a:t>
            </a:r>
            <a:br/>
            <a:r>
              <a:t>(Standalone Component)</a:t>
            </a:r>
            <a:br/>
            <a:r>
              <a:t>PrimeNG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2606040" cy="45720"/>
          </a:xfrm>
          <a:prstGeom prst="rect">
            <a:avLst/>
          </a:prstGeom>
          <a:solidFill>
            <a:srgbClr val="845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845EC2"/>
                </a:solidFill>
                <a:latin typeface="Segoe UI"/>
              </a:defRPr>
            </a:pPr>
            <a:r>
              <a:t>⚡  Gerçek Zamanli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SignalR ile</a:t>
            </a:r>
            <a:br/>
            <a:r>
              <a:t>anlık bildirim</a:t>
            </a:r>
            <a:br/>
            <a:r>
              <a:t>altyapisi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260604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96596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00B4A0"/>
                </a:solidFill>
                <a:latin typeface="Segoe UI"/>
              </a:defRPr>
            </a:pPr>
            <a:r>
              <a:t>🏗  Mimari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Repository pattern</a:t>
            </a:r>
            <a:br/>
            <a:r>
              <a:t>Servis katmani</a:t>
            </a:r>
            <a:br/>
            <a:r>
              <a:t>Audit + Soft-delete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27AE60"/>
                </a:solidFill>
                <a:latin typeface="Segoe UI"/>
              </a:defRPr>
            </a:pPr>
            <a:r>
              <a:t>🔒  Güvenlik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JWT kimlik doğrulama</a:t>
            </a:r>
            <a:br/>
            <a:r>
              <a:t>Rol/kapsam bazlı</a:t>
            </a:r>
            <a:br/>
            <a:r>
              <a:t>yetkilendirme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3840480"/>
            <a:ext cx="2606040" cy="4572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3977640"/>
            <a:ext cx="2331720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3498DB"/>
                </a:solidFill>
                <a:latin typeface="Segoe UI"/>
              </a:defRPr>
            </a:pPr>
            <a:r>
              <a:rPr dirty="0"/>
              <a:t>💾  </a:t>
            </a:r>
            <a:r>
              <a:rPr dirty="0" err="1"/>
              <a:t>Veritaban</a:t>
            </a:r>
            <a:r>
              <a:rPr lang="en-GB" dirty="0"/>
              <a:t>ı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/>
              <a:t>Migration </a:t>
            </a:r>
            <a:r>
              <a:rPr dirty="0" err="1"/>
              <a:t>bazlı</a:t>
            </a:r>
            <a:br>
              <a:rPr dirty="0"/>
            </a:br>
            <a:r>
              <a:rPr dirty="0" err="1"/>
              <a:t>sürüm</a:t>
            </a:r>
            <a:r>
              <a:rPr dirty="0"/>
              <a:t> </a:t>
            </a:r>
            <a:r>
              <a:rPr dirty="0" err="1"/>
              <a:t>yönetimi</a:t>
            </a:r>
            <a:br>
              <a:rPr dirty="0"/>
            </a:br>
            <a:r>
              <a:rPr dirty="0"/>
              <a:t>Seed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840480"/>
            <a:ext cx="2606040" cy="4572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9776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🚀  Deploy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Konteyner ve</a:t>
            </a:r>
            <a:br/>
            <a:r>
              <a:t>kurumsal ortam</a:t>
            </a:r>
            <a:br/>
            <a:r>
              <a:t>uyumlu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840480"/>
            <a:ext cx="26060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869680" y="3840480"/>
            <a:ext cx="260604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397764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F39C12"/>
                </a:solidFill>
                <a:latin typeface="Segoe UI"/>
              </a:defRPr>
            </a:pPr>
            <a:r>
              <a:t>🧪  Test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Backend test</a:t>
            </a:r>
            <a:br/>
            <a:r>
              <a:t>altyapisi</a:t>
            </a:r>
            <a:br/>
            <a:r>
              <a:t>mevcut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73152" cy="5029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Neden Bu Çözüm?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600" b="0">
                <a:solidFill>
                  <a:srgbClr val="CCCCDD"/>
                </a:solidFill>
                <a:latin typeface="Segoe UI"/>
              </a:defRPr>
            </a:pPr>
            <a:r>
              <a:t>Neden STYS?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19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Tam Operasyon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Rezervasyon dışındaki tum operasyonu</a:t>
            </a:r>
            <a:br/>
            <a:r>
              <a:t>da yönetir: restoran, kamp, temizlik, arıza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Saha Gerçeği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Paylaşımlı oda, parçalı ödeme, no-show</a:t>
            </a:r>
            <a:br/>
            <a:r>
              <a:t>gibi gerçek senaryoları destekler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8288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Kurumsal Uyum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Rol ve scope mantigina</a:t>
            </a:r>
            <a:br/>
            <a:r>
              <a:t>tam uyumlu yetki yapisi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8288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9385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Genişletilebilir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Denetlenebilir, raporlanabilir</a:t>
            </a:r>
            <a:br/>
            <a:r>
              <a:t>ve modüler yapi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Tek Platform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Konaklama + restoran + kamp</a:t>
            </a:r>
            <a:br/>
            <a:r>
              <a:t>bütünlüğü tek merkezde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Mobil Uyumlu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Dokunmatik operasyon desteği</a:t>
            </a:r>
            <a:br/>
            <a:r>
              <a:t>ve mobil uyumlu ekranlar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657600"/>
            <a:ext cx="2606040" cy="16459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657600"/>
            <a:ext cx="2606040" cy="45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767328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27AE60"/>
                </a:solidFill>
                <a:latin typeface="Segoe UI"/>
              </a:defRPr>
            </a:pPr>
            <a:r>
              <a:t>✅  Hızlı Kurulum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Hazır seed verisi ile</a:t>
            </a:r>
            <a:br/>
            <a:r>
              <a:t>anında demo ortami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Bir Sonraki Adim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27432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560320"/>
            <a:ext cx="20574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t>🎬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Canli Demo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Hazır seed verisi ile</a:t>
            </a:r>
            <a:br/>
            <a:r>
              <a:t>anında gösterilebilir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560320"/>
            <a:ext cx="20574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40" y="25603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t>🏢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Pilot Kurulum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Secili tesis üzerinde</a:t>
            </a:r>
            <a:br/>
            <a:r>
              <a:t>pilot çalışma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560320"/>
            <a:ext cx="20574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74920" y="25603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t>🔄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Uyarlama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Kurum ihtiyaçlarına göre</a:t>
            </a:r>
            <a:br/>
            <a:r>
              <a:t>özel gelistirme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560320"/>
            <a:ext cx="20574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25603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74320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t>📊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Analiz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t>Raporlama ve entegrasyon</a:t>
            </a:r>
            <a:br/>
            <a:r>
              <a:t>ihtiyaçlarının tespiti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560320"/>
            <a:ext cx="2057400" cy="2560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25603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0" y="2743200"/>
            <a:ext cx="1783080" cy="146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3600" b="0">
                <a:solidFill>
                  <a:srgbClr val="00B4A0"/>
                </a:solidFill>
                <a:latin typeface="Segoe UI"/>
              </a:defRPr>
            </a:pPr>
            <a:r>
              <a:rPr dirty="0"/>
              <a:t>📦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Veri </a:t>
            </a:r>
            <a:r>
              <a:rPr dirty="0" err="1"/>
              <a:t>Göç</a:t>
            </a:r>
            <a:endParaRPr dirty="0"/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DD"/>
                </a:solidFill>
                <a:latin typeface="Segoe UI"/>
              </a:defRPr>
            </a:pPr>
            <a:r>
              <a:rPr dirty="0" err="1"/>
              <a:t>Mevcut</a:t>
            </a:r>
            <a:r>
              <a:rPr dirty="0"/>
              <a:t> </a:t>
            </a:r>
            <a:r>
              <a:rPr dirty="0" err="1"/>
              <a:t>sistemlerle</a:t>
            </a:r>
            <a:br>
              <a:rPr dirty="0"/>
            </a:br>
            <a:r>
              <a:rPr dirty="0" err="1"/>
              <a:t>veri</a:t>
            </a:r>
            <a:r>
              <a:rPr dirty="0"/>
              <a:t> </a:t>
            </a:r>
            <a:r>
              <a:rPr dirty="0" err="1"/>
              <a:t>aktarım</a:t>
            </a:r>
            <a:r>
              <a:rPr dirty="0"/>
              <a:t> plan</a:t>
            </a:r>
            <a:r>
              <a:rPr lang="en-GB"/>
              <a:t>ı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5A5A6E"/>
                </a:solidFill>
                <a:latin typeface="Segoe UI"/>
              </a:defRPr>
            </a:pPr>
            <a:r>
              <a:t>STYS  |  Kurumsal Konaklama, Tesis ve Restoran Operasyon Yönetim Platformu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CCCCDD"/>
                </a:solidFill>
                <a:latin typeface="Segoe U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1697</Words>
  <Application>Microsoft Office PowerPoint</Application>
  <PresentationFormat>Widescreen</PresentationFormat>
  <Paragraphs>363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Önder DEMİR</cp:lastModifiedBy>
  <cp:revision>2</cp:revision>
  <dcterms:created xsi:type="dcterms:W3CDTF">2013-01-27T09:14:16Z</dcterms:created>
  <dcterms:modified xsi:type="dcterms:W3CDTF">2026-04-13T20:42:05Z</dcterms:modified>
  <cp:category/>
</cp:coreProperties>
</file>